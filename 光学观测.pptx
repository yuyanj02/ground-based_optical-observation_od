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8" r:id="rId2"/>
    <p:sldId id="322" r:id="rId3"/>
    <p:sldId id="317" r:id="rId4"/>
    <p:sldId id="323" r:id="rId5"/>
    <p:sldId id="319" r:id="rId6"/>
    <p:sldId id="324" r:id="rId7"/>
    <p:sldId id="325" r:id="rId8"/>
    <p:sldId id="32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  <a:srgbClr val="FFFF00"/>
    <a:srgbClr val="E80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EE71C-0C25-490B-938C-796E63842FCD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33FB6-C281-4737-8133-0F997DF95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531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33FB6-C281-4737-8133-0F997DF95C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391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6A9E-A76C-0949-E1D6-EB1A17A5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1BA3E5-B8DE-CFB2-14BE-8FE21A2AF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81D35E-C3EA-63FF-8610-DC89B62A2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30CBFC-B44A-EB46-FDBC-0CF8DCAD2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33FB6-C281-4737-8133-0F997DF95C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907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8A97-691C-197D-4398-83FB35907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760240-BB87-B42E-D2AA-4DD388F8A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71D05F-EF71-A0EC-3C1A-70580A14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0DABE7-C4F6-8390-21FD-1701E093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D99F73-672C-CFF8-CA3F-D8806485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978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BFA78-FF69-7278-7739-46AFB67AA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71D268-89DC-3BDE-DA19-0FDF1E2BE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B6DE5F-37A5-B67A-5DB5-85461AB1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F29315-8ED6-C2D7-B952-B03D8728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D5C8EB-EF70-8781-B898-DE0059D78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8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9CB75-E54D-306C-8F34-0CED567E5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1E9463-AE82-3B84-5684-F8DF9F190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119911-9526-BA86-CC62-4AEABC0E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6A3E2C-51DC-C60C-6D16-8E8FBDA3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7844BE-AC49-89DA-DA75-C160F3AB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05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0AE59-86E5-C819-8E24-20941F2F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4978F9-C4A1-F7BF-8768-35888D4F5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C64973-E486-99EB-2009-D755ED889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433161-4909-D537-4724-4F2CBBD3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77A3BA-1828-1454-254F-BD64D729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4646DC-A319-8384-609C-46202A70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10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85661-94A7-30D4-565F-F936BE11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0E7B9B-C3AD-F9E3-85FF-9A030E0D5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26DB9B-2AC2-8321-B8CE-EF9A07B7A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2924F8-C92A-99BE-D2E0-AC9268D71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F8490E-360B-5822-6865-60BDC44E1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F92126-178A-768F-6C03-637225E3A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5F0D35-96A7-7F6E-5290-C645B367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63E3EC-B83F-7375-635A-5AAC59B3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82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3EB62-7439-814A-F412-9472DB52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44F798-4EAA-9937-3313-ECB553D8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D28141-DF68-6AE1-D381-461044D6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68B51D-D700-D6F2-6505-492AE9355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49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A7FA5E-B60A-4F3B-0739-06AF8ABB2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767EC6-45F7-2590-2C5E-F332A828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1383C9-A5B1-A560-A42B-20B06FA7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07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D5610-5BC9-58EE-500A-50F6935B8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31BE66-5EFE-434D-2318-2E47164BB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61F760-9D82-91BF-B607-71F386662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4BE9D6-9F40-4847-C35F-5F19A7EF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5D2F63-0113-40F5-BED7-477123BAF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A7179F-7A8C-345F-2599-7C437A8A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8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E812AE-1B61-5F29-EBDA-87F17AB8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892F9E-08F5-2623-2256-3E5863662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E3608A-1D60-520B-CCEA-500B8D22B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6BEE3F-C8C6-6F25-182F-51CAB24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6EDD2D-3642-1B7B-0A5D-DC97BA2C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37EA89-7D88-0C2F-21DE-CC93D688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46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E81EA-A969-FDD8-43ED-088D2851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DF9045-FA30-7CA5-870D-64940289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8E9DCD-C202-6F6A-8EF1-DCA368CD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39A3D3-5645-96A8-EA74-9ECF9B4E1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B6AF0D-25D5-5F7E-E838-8D34129C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974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9B0B07-7675-BD6D-A6A9-0490E420F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A1C71D-1663-CA96-7048-A2728504F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98CC35-C5D1-79F5-21DC-63B87A0A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00933-9E73-3D94-76CB-B9F568858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1341A1-657F-FDD8-F6C8-E9E5EDF5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96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F2870C-BB2E-F052-7928-957729B1D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101138-D26E-D42B-3AD8-CEDEA0469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96C3F1-B442-6918-B47C-D2D5D416E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6CCC5-F0F9-4923-A9CA-9B1E50FFF701}" type="datetimeFigureOut">
              <a:rPr lang="zh-CN" altLang="en-US" smtClean="0"/>
              <a:t>2025/2/11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F1ED9-A01D-8569-34C8-BC20C549D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8782E9-00C2-91E2-2D96-E95950FC6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8BB16-D1E0-402A-8FDE-BA462D245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564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7ECF3-7CCB-7D9B-D784-CBE08112A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D478B-53B6-168F-27D4-4CF11EBB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67347" cy="7809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光学观测时间安排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6B50281D-FFB9-1D57-28E6-8050EEA0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9E24-FCFC-4789-9D0B-F1C87FEB11A4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B17ED25-9884-2A35-4FBF-0DED321E56DD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双星分离后，组织开展了数次观测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B3919EB-21D9-2342-A228-F2B804DDD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95250"/>
              </p:ext>
            </p:extLst>
          </p:nvPr>
        </p:nvGraphicFramePr>
        <p:xfrm>
          <a:off x="338283" y="1395076"/>
          <a:ext cx="528320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372">
                  <a:extLst>
                    <a:ext uri="{9D8B030D-6E8A-4147-A177-3AD203B41FA5}">
                      <a16:colId xmlns:a16="http://schemas.microsoft.com/office/drawing/2014/main" val="2935928649"/>
                    </a:ext>
                  </a:extLst>
                </a:gridCol>
                <a:gridCol w="1750868">
                  <a:extLst>
                    <a:ext uri="{9D8B030D-6E8A-4147-A177-3AD203B41FA5}">
                      <a16:colId xmlns:a16="http://schemas.microsoft.com/office/drawing/2014/main" val="2231506696"/>
                    </a:ext>
                  </a:extLst>
                </a:gridCol>
                <a:gridCol w="1646961">
                  <a:extLst>
                    <a:ext uri="{9D8B030D-6E8A-4147-A177-3AD203B41FA5}">
                      <a16:colId xmlns:a16="http://schemas.microsoft.com/office/drawing/2014/main" val="1096201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/UTC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卫星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639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08/28 19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388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08/29 20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042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09/23 19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9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09/24 19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AB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407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10/27 21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618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12/18 16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93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12/19 17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P13/O46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71197"/>
                  </a:ext>
                </a:extLst>
              </a:tr>
            </a:tbl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F8FF07A7-4315-6FA4-C41D-AA71BB8657B4}"/>
              </a:ext>
            </a:extLst>
          </p:cNvPr>
          <p:cNvGrpSpPr/>
          <p:nvPr/>
        </p:nvGrpSpPr>
        <p:grpSpPr>
          <a:xfrm>
            <a:off x="5922817" y="784514"/>
            <a:ext cx="6068292" cy="5021755"/>
            <a:chOff x="5922817" y="784514"/>
            <a:chExt cx="6068292" cy="5021755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E9CC15B1-8D1D-3419-EFC2-FAF05D5B1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099" t="12735" r="21841" b="8865"/>
            <a:stretch/>
          </p:blipFill>
          <p:spPr>
            <a:xfrm>
              <a:off x="5922817" y="784514"/>
              <a:ext cx="6068292" cy="5021755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1527BE1-09C3-7167-0E77-82611648DE3D}"/>
                </a:ext>
              </a:extLst>
            </p:cNvPr>
            <p:cNvSpPr txBox="1"/>
            <p:nvPr/>
          </p:nvSpPr>
          <p:spPr>
            <a:xfrm>
              <a:off x="8520546" y="1926728"/>
              <a:ext cx="3444586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(P13) </a:t>
              </a:r>
              <a:r>
                <a:rPr lang="en-US" altLang="zh-CN" sz="1200" b="1" dirty="0" err="1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Baihuashan</a:t>
              </a:r>
              <a:r>
                <a:rPr lang="en-US" altLang="zh-CN" sz="12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Observatory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N39.837554 E115.573330 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AF6D911-8BF0-B541-5EF8-A36DC2819651}"/>
                </a:ext>
              </a:extLst>
            </p:cNvPr>
            <p:cNvSpPr txBox="1"/>
            <p:nvPr/>
          </p:nvSpPr>
          <p:spPr>
            <a:xfrm>
              <a:off x="6558397" y="3751804"/>
              <a:ext cx="4076700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altLang="zh-CN" sz="1200" b="1" dirty="0">
                  <a:solidFill>
                    <a:srgbClr val="E800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(O46) Daocheng Glacier Observatory </a:t>
              </a:r>
            </a:p>
            <a:p>
              <a:pPr algn="ctr">
                <a:lnSpc>
                  <a:spcPct val="150000"/>
                </a:lnSpc>
              </a:pPr>
              <a:r>
                <a:rPr lang="pt-BR" altLang="zh-CN" sz="1200" b="1" dirty="0">
                  <a:solidFill>
                    <a:srgbClr val="E800E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N29.011748 E100.226640)</a:t>
              </a:r>
              <a:endParaRPr lang="zh-CN" altLang="en-US" sz="1200" b="1" dirty="0">
                <a:solidFill>
                  <a:srgbClr val="E800E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6715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13D2D-EF8B-6605-44AF-DB892CDF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D52F9-657D-0C54-BE55-717DDADBF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67347" cy="7809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光学指向标定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A27F5BAB-FA7E-1E39-CA42-078BEA6C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9E24-FCFC-4789-9D0B-F1C87FEB11A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98B54B2-A023-5850-80AA-0C027E29E468}"/>
              </a:ext>
            </a:extLst>
          </p:cNvPr>
          <p:cNvSpPr txBox="1"/>
          <p:nvPr/>
        </p:nvSpPr>
        <p:spPr>
          <a:xfrm>
            <a:off x="0" y="5903893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观测导航星，对比指向精度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2441B3-31B9-475D-B906-A7339ADF7CB9}"/>
              </a:ext>
            </a:extLst>
          </p:cNvPr>
          <p:cNvSpPr txBox="1"/>
          <p:nvPr/>
        </p:nvSpPr>
        <p:spPr>
          <a:xfrm>
            <a:off x="581891" y="991142"/>
            <a:ext cx="2758786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定时精度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&lt;0.5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星地距离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万公里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星地相对速度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公里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恒星指向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导航星分米级精密星历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0D7730-760D-8C2F-E9D7-11A84CA7C52B}"/>
              </a:ext>
            </a:extLst>
          </p:cNvPr>
          <p:cNvSpPr txBox="1"/>
          <p:nvPr/>
        </p:nvSpPr>
        <p:spPr>
          <a:xfrm>
            <a:off x="4073237" y="1524012"/>
            <a:ext cx="216130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指向误差约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角秒</a:t>
            </a: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714CA4C5-77F4-1700-71DC-2898CC883FE3}"/>
              </a:ext>
            </a:extLst>
          </p:cNvPr>
          <p:cNvSpPr/>
          <p:nvPr/>
        </p:nvSpPr>
        <p:spPr>
          <a:xfrm rot="16200000">
            <a:off x="3590059" y="1511877"/>
            <a:ext cx="306532" cy="56630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FA25C2-1764-597F-1013-8EDCEB7B5B69}"/>
              </a:ext>
            </a:extLst>
          </p:cNvPr>
          <p:cNvSpPr txBox="1"/>
          <p:nvPr/>
        </p:nvSpPr>
        <p:spPr>
          <a:xfrm>
            <a:off x="4090556" y="2471316"/>
            <a:ext cx="2161308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实际观测误差约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角秒</a:t>
            </a:r>
          </a:p>
        </p:txBody>
      </p:sp>
    </p:spTree>
    <p:extLst>
      <p:ext uri="{BB962C8B-B14F-4D97-AF65-F5344CB8AC3E}">
        <p14:creationId xmlns:p14="http://schemas.microsoft.com/office/powerpoint/2010/main" val="1559688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493C1-7E47-FAA9-790B-0AAF3E34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21A7607-1BEB-8B52-8CAE-3FE5267B3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62" y="394858"/>
            <a:ext cx="10477500" cy="5715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F875C48-5BF4-9CB3-9AF6-F8C4C68B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67347" cy="7809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光学观测结果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191B5FF1-71E1-173F-5C87-09C0F5F5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9E24-FCFC-4789-9D0B-F1C87FEB11A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1EA4131-3BF1-F443-4BE8-E9961A681F2B}"/>
              </a:ext>
            </a:extLst>
          </p:cNvPr>
          <p:cNvSpPr txBox="1"/>
          <p:nvPr/>
        </p:nvSpPr>
        <p:spPr>
          <a:xfrm>
            <a:off x="0" y="5903893"/>
            <a:ext cx="12192000" cy="9541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受设备能力所限，视星等约为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16-18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等，天文定位精度大致为角秒级</a:t>
            </a:r>
            <a:endParaRPr lang="en-US" altLang="zh-CN" sz="2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（真值为精密星历）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09D577-9C82-B375-79C9-7DF7D36E39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970"/>
          <a:stretch/>
        </p:blipFill>
        <p:spPr>
          <a:xfrm>
            <a:off x="7607661" y="457199"/>
            <a:ext cx="4256717" cy="263409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2C3F307-1DA1-2189-4DD9-C942DF700951}"/>
              </a:ext>
            </a:extLst>
          </p:cNvPr>
          <p:cNvSpPr/>
          <p:nvPr/>
        </p:nvSpPr>
        <p:spPr>
          <a:xfrm>
            <a:off x="8967354" y="4187536"/>
            <a:ext cx="1397578" cy="109104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F640D00-E931-4D45-BAE6-DADC0C9DCB79}"/>
              </a:ext>
            </a:extLst>
          </p:cNvPr>
          <p:cNvCxnSpPr>
            <a:cxnSpLocks/>
          </p:cNvCxnSpPr>
          <p:nvPr/>
        </p:nvCxnSpPr>
        <p:spPr>
          <a:xfrm>
            <a:off x="7595755" y="3096491"/>
            <a:ext cx="1371600" cy="13248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6304323-F9FE-F1A2-A41D-A4E82288FF84}"/>
              </a:ext>
            </a:extLst>
          </p:cNvPr>
          <p:cNvCxnSpPr>
            <a:cxnSpLocks/>
          </p:cNvCxnSpPr>
          <p:nvPr/>
        </p:nvCxnSpPr>
        <p:spPr>
          <a:xfrm flipH="1">
            <a:off x="10406495" y="3101686"/>
            <a:ext cx="1444337" cy="129366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A8886EC-C125-DBCE-99BE-78F72B83505A}"/>
              </a:ext>
            </a:extLst>
          </p:cNvPr>
          <p:cNvSpPr txBox="1"/>
          <p:nvPr/>
        </p:nvSpPr>
        <p:spPr>
          <a:xfrm>
            <a:off x="765983" y="1753139"/>
            <a:ext cx="6463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9020BE2-E23A-4096-65B3-BA4581949510}"/>
              </a:ext>
            </a:extLst>
          </p:cNvPr>
          <p:cNvSpPr txBox="1"/>
          <p:nvPr/>
        </p:nvSpPr>
        <p:spPr>
          <a:xfrm>
            <a:off x="477501" y="4508462"/>
            <a:ext cx="1138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光学定位精度</a:t>
            </a:r>
          </a:p>
        </p:txBody>
      </p:sp>
    </p:spTree>
    <p:extLst>
      <p:ext uri="{BB962C8B-B14F-4D97-AF65-F5344CB8AC3E}">
        <p14:creationId xmlns:p14="http://schemas.microsoft.com/office/powerpoint/2010/main" val="146952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7F5DC-4CCD-9EC1-A740-EE9D18AA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82D2B8-053C-7146-0315-E7C0EF5C0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098" y="727363"/>
            <a:ext cx="6490855" cy="486814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5BFA928-4702-0E14-60C3-D3F1DBF99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67347" cy="7809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光学观测结果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D75A2AA-E187-65B0-ECB6-6D2D1457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9E24-FCFC-4789-9D0B-F1C87FEB11A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A4338A8-47F1-D2D6-140D-955AAD3513FF}"/>
              </a:ext>
            </a:extLst>
          </p:cNvPr>
          <p:cNvSpPr txBox="1"/>
          <p:nvPr/>
        </p:nvSpPr>
        <p:spPr>
          <a:xfrm>
            <a:off x="0" y="5903893"/>
            <a:ext cx="12192000" cy="9541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受设备能力所限，视星等约为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16-18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等，天文定位精度大致为角秒级</a:t>
            </a:r>
            <a:endParaRPr lang="en-US" altLang="zh-CN" sz="2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（真值为精密星历）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0A1F624-4F5F-871E-654A-F653BE070182}"/>
              </a:ext>
            </a:extLst>
          </p:cNvPr>
          <p:cNvSpPr txBox="1"/>
          <p:nvPr/>
        </p:nvSpPr>
        <p:spPr>
          <a:xfrm>
            <a:off x="5156644" y="1259571"/>
            <a:ext cx="5725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6507ACC-07F1-8755-7C37-57C09052ECCC}"/>
              </a:ext>
            </a:extLst>
          </p:cNvPr>
          <p:cNvSpPr txBox="1"/>
          <p:nvPr/>
        </p:nvSpPr>
        <p:spPr>
          <a:xfrm>
            <a:off x="477501" y="4508462"/>
            <a:ext cx="1138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光学定位精度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4669210-86CE-6D4B-95CF-AB1F88CF6817}"/>
              </a:ext>
            </a:extLst>
          </p:cNvPr>
          <p:cNvSpPr/>
          <p:nvPr/>
        </p:nvSpPr>
        <p:spPr>
          <a:xfrm>
            <a:off x="4260273" y="1143000"/>
            <a:ext cx="848591" cy="77931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14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F1EB-F953-032C-1637-F083E5D0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9C2146BB-94B9-A408-A6B1-981D7E35A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0" y="1316180"/>
            <a:ext cx="11933964" cy="397798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419CE6D-7219-94F7-CFB6-BDBC4883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67347" cy="7809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光学观测时机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52B0D2A-3F4E-800A-D53F-4200A9BA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9E24-FCFC-4789-9D0B-F1C87FEB11A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2874BF1-B464-EC2D-DDC1-65DA060028F6}"/>
              </a:ext>
            </a:extLst>
          </p:cNvPr>
          <p:cNvSpPr txBox="1"/>
          <p:nvPr/>
        </p:nvSpPr>
        <p:spPr>
          <a:xfrm>
            <a:off x="0" y="5903893"/>
            <a:ext cx="12192000" cy="9541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观测时机：下弦月、北半球、远月点（＞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10°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）、月球下方</a:t>
            </a:r>
            <a:endParaRPr lang="en-US" altLang="zh-CN" sz="2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地心距影响小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ADF1BD7-8926-7CA8-3BC2-0E64FFC80507}"/>
              </a:ext>
            </a:extLst>
          </p:cNvPr>
          <p:cNvSpPr txBox="1"/>
          <p:nvPr/>
        </p:nvSpPr>
        <p:spPr>
          <a:xfrm>
            <a:off x="1267211" y="2606927"/>
            <a:ext cx="2624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满月角距大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9FB3EC-22C0-6A02-4444-75DF28355FC1}"/>
              </a:ext>
            </a:extLst>
          </p:cNvPr>
          <p:cNvSpPr txBox="1"/>
          <p:nvPr/>
        </p:nvSpPr>
        <p:spPr>
          <a:xfrm>
            <a:off x="7306060" y="5383032"/>
            <a:ext cx="2624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纬度幅角 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太阳相角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8BA13D-192A-AE16-C516-CE92AC3D8F1B}"/>
              </a:ext>
            </a:extLst>
          </p:cNvPr>
          <p:cNvSpPr txBox="1"/>
          <p:nvPr/>
        </p:nvSpPr>
        <p:spPr>
          <a:xfrm>
            <a:off x="1968596" y="5355323"/>
            <a:ext cx="2624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月球角距 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太阳相角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DDF23E-7125-A37A-BFB4-5C09A1A6E596}"/>
              </a:ext>
            </a:extLst>
          </p:cNvPr>
          <p:cNvSpPr txBox="1"/>
          <p:nvPr/>
        </p:nvSpPr>
        <p:spPr>
          <a:xfrm>
            <a:off x="3273137" y="1465659"/>
            <a:ext cx="140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E5EA26A-3A54-AE1B-3E06-C6D5A7292EAA}"/>
              </a:ext>
            </a:extLst>
          </p:cNvPr>
          <p:cNvCxnSpPr>
            <a:cxnSpLocks/>
          </p:cNvCxnSpPr>
          <p:nvPr/>
        </p:nvCxnSpPr>
        <p:spPr>
          <a:xfrm flipH="1">
            <a:off x="2306782" y="3321628"/>
            <a:ext cx="90055" cy="767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BDA8C679-67C5-ADD4-C7E3-F3F972AEC383}"/>
              </a:ext>
            </a:extLst>
          </p:cNvPr>
          <p:cNvSpPr txBox="1"/>
          <p:nvPr/>
        </p:nvSpPr>
        <p:spPr>
          <a:xfrm>
            <a:off x="1352550" y="4205395"/>
            <a:ext cx="140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7F65AB5-6DAC-4E28-D0A1-63B4149DB8EF}"/>
              </a:ext>
            </a:extLst>
          </p:cNvPr>
          <p:cNvSpPr txBox="1"/>
          <p:nvPr/>
        </p:nvSpPr>
        <p:spPr>
          <a:xfrm>
            <a:off x="3991841" y="3940426"/>
            <a:ext cx="140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B6C0FAF-8B96-0B14-A560-315B83A5E33A}"/>
              </a:ext>
            </a:extLst>
          </p:cNvPr>
          <p:cNvSpPr txBox="1"/>
          <p:nvPr/>
        </p:nvSpPr>
        <p:spPr>
          <a:xfrm>
            <a:off x="2673928" y="3162839"/>
            <a:ext cx="1409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73139CC-12C7-02F3-70E5-7D0F818BF1D5}"/>
              </a:ext>
            </a:extLst>
          </p:cNvPr>
          <p:cNvSpPr/>
          <p:nvPr/>
        </p:nvSpPr>
        <p:spPr>
          <a:xfrm>
            <a:off x="3782291" y="3652405"/>
            <a:ext cx="768927" cy="62345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6D1BD98-5414-EBAE-B4AD-7D707C9189D7}"/>
              </a:ext>
            </a:extLst>
          </p:cNvPr>
          <p:cNvSpPr/>
          <p:nvPr/>
        </p:nvSpPr>
        <p:spPr>
          <a:xfrm>
            <a:off x="2931968" y="3524251"/>
            <a:ext cx="768927" cy="62345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69DDA31C-A462-667F-9EB8-F1E7D690BAAF}"/>
              </a:ext>
            </a:extLst>
          </p:cNvPr>
          <p:cNvSpPr/>
          <p:nvPr/>
        </p:nvSpPr>
        <p:spPr>
          <a:xfrm>
            <a:off x="2090305" y="3792681"/>
            <a:ext cx="768927" cy="483177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7C9485D-2055-C609-B33C-CE748E3C8448}"/>
              </a:ext>
            </a:extLst>
          </p:cNvPr>
          <p:cNvSpPr/>
          <p:nvPr/>
        </p:nvSpPr>
        <p:spPr>
          <a:xfrm>
            <a:off x="4442114" y="1487632"/>
            <a:ext cx="666750" cy="43468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AC4EF78B-5D85-6244-C4D5-B184A49602D4}"/>
              </a:ext>
            </a:extLst>
          </p:cNvPr>
          <p:cNvSpPr/>
          <p:nvPr/>
        </p:nvSpPr>
        <p:spPr>
          <a:xfrm>
            <a:off x="7462404" y="1527463"/>
            <a:ext cx="2523259" cy="12573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4D8C99-C1F5-5569-B96A-8977361AD811}"/>
              </a:ext>
            </a:extLst>
          </p:cNvPr>
          <p:cNvSpPr txBox="1"/>
          <p:nvPr/>
        </p:nvSpPr>
        <p:spPr>
          <a:xfrm>
            <a:off x="7442874" y="2854577"/>
            <a:ext cx="2624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月球位于北纬</a:t>
            </a:r>
          </a:p>
        </p:txBody>
      </p:sp>
    </p:spTree>
    <p:extLst>
      <p:ext uri="{BB962C8B-B14F-4D97-AF65-F5344CB8AC3E}">
        <p14:creationId xmlns:p14="http://schemas.microsoft.com/office/powerpoint/2010/main" val="152100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D87E8-FD2F-201C-43EA-C4EDC7CC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2D9B5C7-6F92-7405-B062-891C6AB30B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60"/>
          <a:stretch/>
        </p:blipFill>
        <p:spPr>
          <a:xfrm>
            <a:off x="153376" y="489688"/>
            <a:ext cx="9978736" cy="5715000"/>
          </a:xfrm>
          <a:prstGeom prst="rect">
            <a:avLst/>
          </a:prstGeom>
        </p:spPr>
      </p:pic>
      <p:sp>
        <p:nvSpPr>
          <p:cNvPr id="31" name="L 形 30">
            <a:extLst>
              <a:ext uri="{FF2B5EF4-FFF2-40B4-BE49-F238E27FC236}">
                <a16:creationId xmlns:a16="http://schemas.microsoft.com/office/drawing/2014/main" id="{E7BE76A4-F1A4-DB66-74EA-B436B340ACBE}"/>
              </a:ext>
            </a:extLst>
          </p:cNvPr>
          <p:cNvSpPr/>
          <p:nvPr/>
        </p:nvSpPr>
        <p:spPr>
          <a:xfrm>
            <a:off x="998112" y="721217"/>
            <a:ext cx="4758743" cy="4855335"/>
          </a:xfrm>
          <a:prstGeom prst="corner">
            <a:avLst>
              <a:gd name="adj1" fmla="val 39739"/>
              <a:gd name="adj2" fmla="val 60212"/>
            </a:avLst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L 形 31">
            <a:extLst>
              <a:ext uri="{FF2B5EF4-FFF2-40B4-BE49-F238E27FC236}">
                <a16:creationId xmlns:a16="http://schemas.microsoft.com/office/drawing/2014/main" id="{8481F317-A330-AF6B-689F-9CA145C8ED64}"/>
              </a:ext>
            </a:extLst>
          </p:cNvPr>
          <p:cNvSpPr/>
          <p:nvPr/>
        </p:nvSpPr>
        <p:spPr>
          <a:xfrm rot="10800000">
            <a:off x="4151289" y="706193"/>
            <a:ext cx="4758743" cy="3666186"/>
          </a:xfrm>
          <a:prstGeom prst="corner">
            <a:avLst>
              <a:gd name="adj1" fmla="val 83650"/>
              <a:gd name="adj2" fmla="val 60212"/>
            </a:avLst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2D9B6C9-D149-BB2F-6F97-F4107FF11CB1}"/>
              </a:ext>
            </a:extLst>
          </p:cNvPr>
          <p:cNvGrpSpPr/>
          <p:nvPr/>
        </p:nvGrpSpPr>
        <p:grpSpPr>
          <a:xfrm>
            <a:off x="9040403" y="394855"/>
            <a:ext cx="3084056" cy="5871199"/>
            <a:chOff x="9050794" y="192232"/>
            <a:chExt cx="3084056" cy="5871199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D19C5E2A-9194-045C-BFFA-CEF786AC9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608" r="20458" b="5411"/>
            <a:stretch/>
          </p:blipFill>
          <p:spPr>
            <a:xfrm>
              <a:off x="9050794" y="3028952"/>
              <a:ext cx="3059810" cy="3034479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5C2E066-C900-6595-C788-2921566913B9}"/>
                </a:ext>
              </a:extLst>
            </p:cNvPr>
            <p:cNvSpPr txBox="1"/>
            <p:nvPr/>
          </p:nvSpPr>
          <p:spPr>
            <a:xfrm>
              <a:off x="10007698" y="3310046"/>
              <a:ext cx="2061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-Z</a:t>
              </a:r>
              <a:r>
                <a:rPr lang="zh-CN" altLang="en-US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面反光</a:t>
              </a: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9D023C91-15FA-79CE-D84C-262E7CD21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94" t="10985" r="18226" b="6363"/>
            <a:stretch/>
          </p:blipFill>
          <p:spPr>
            <a:xfrm>
              <a:off x="9055321" y="192232"/>
              <a:ext cx="3079529" cy="2774374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705068F-F562-1A17-EE42-A0FDD2CCC840}"/>
                </a:ext>
              </a:extLst>
            </p:cNvPr>
            <p:cNvSpPr txBox="1"/>
            <p:nvPr/>
          </p:nvSpPr>
          <p:spPr>
            <a:xfrm>
              <a:off x="10123729" y="308805"/>
              <a:ext cx="19868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-X</a:t>
              </a:r>
              <a:r>
                <a:rPr lang="zh-CN" altLang="en-US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面反光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70EA725-C476-0942-757D-F275BC77A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67347" cy="7809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星等与姿态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AE42E079-7AA4-EE6E-AC3D-D93C4E93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5256" y="6345960"/>
            <a:ext cx="2743200" cy="365125"/>
          </a:xfrm>
        </p:spPr>
        <p:txBody>
          <a:bodyPr/>
          <a:lstStyle/>
          <a:p>
            <a:fld id="{8A8F9E24-FCFC-4789-9D0B-F1C87FEB11A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7F7336-8B98-284B-7210-0C50387A6C72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主要表现为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-Z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面反光，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面更亮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5C5DB3-8AB7-22CC-13E1-3FD32A2A3E96}"/>
              </a:ext>
            </a:extLst>
          </p:cNvPr>
          <p:cNvSpPr txBox="1"/>
          <p:nvPr/>
        </p:nvSpPr>
        <p:spPr>
          <a:xfrm>
            <a:off x="6874461" y="1028633"/>
            <a:ext cx="1155517" cy="369332"/>
          </a:xfrm>
          <a:prstGeom prst="rect">
            <a:avLst/>
          </a:prstGeom>
          <a:solidFill>
            <a:srgbClr val="FBE3D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12/18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1253B3-D33E-823C-038A-93123E8F1189}"/>
              </a:ext>
            </a:extLst>
          </p:cNvPr>
          <p:cNvSpPr txBox="1"/>
          <p:nvPr/>
        </p:nvSpPr>
        <p:spPr>
          <a:xfrm>
            <a:off x="4314323" y="1584693"/>
            <a:ext cx="173874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09/23-09/24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61BB372-2DD0-8F4E-5C7A-9690372F7D26}"/>
              </a:ext>
            </a:extLst>
          </p:cNvPr>
          <p:cNvSpPr txBox="1"/>
          <p:nvPr/>
        </p:nvSpPr>
        <p:spPr>
          <a:xfrm>
            <a:off x="7126920" y="3285557"/>
            <a:ext cx="89015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12/19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15C213-E431-1EDB-912C-0DBE9A876DC4}"/>
              </a:ext>
            </a:extLst>
          </p:cNvPr>
          <p:cNvSpPr txBox="1"/>
          <p:nvPr/>
        </p:nvSpPr>
        <p:spPr>
          <a:xfrm>
            <a:off x="4853628" y="3170941"/>
            <a:ext cx="890153" cy="369332"/>
          </a:xfrm>
          <a:prstGeom prst="rect">
            <a:avLst/>
          </a:prstGeom>
          <a:solidFill>
            <a:srgbClr val="FBE3D6"/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02/05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1B4FAD-0034-28FD-F740-2D1E13C2ED9A}"/>
              </a:ext>
            </a:extLst>
          </p:cNvPr>
          <p:cNvSpPr txBox="1"/>
          <p:nvPr/>
        </p:nvSpPr>
        <p:spPr>
          <a:xfrm>
            <a:off x="4035112" y="5895018"/>
            <a:ext cx="2007249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归一化反光面积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A544DB9-D361-6B4D-FDD7-BF404BDAB8F4}"/>
              </a:ext>
            </a:extLst>
          </p:cNvPr>
          <p:cNvSpPr txBox="1"/>
          <p:nvPr/>
        </p:nvSpPr>
        <p:spPr>
          <a:xfrm>
            <a:off x="5555060" y="2440432"/>
            <a:ext cx="141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-Z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面反光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80E4AD-5BEA-7C02-D692-02B59CF2F6A9}"/>
              </a:ext>
            </a:extLst>
          </p:cNvPr>
          <p:cNvSpPr txBox="1"/>
          <p:nvPr/>
        </p:nvSpPr>
        <p:spPr>
          <a:xfrm>
            <a:off x="1064452" y="1617817"/>
            <a:ext cx="8566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10/27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BC8D7F-216A-BA31-7C8B-A7F43C7B707C}"/>
              </a:ext>
            </a:extLst>
          </p:cNvPr>
          <p:cNvSpPr txBox="1"/>
          <p:nvPr/>
        </p:nvSpPr>
        <p:spPr>
          <a:xfrm>
            <a:off x="3931715" y="5126481"/>
            <a:ext cx="123139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08/28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CBB46D-9BC0-9517-9DCE-2F22A7F8E58B}"/>
              </a:ext>
            </a:extLst>
          </p:cNvPr>
          <p:cNvSpPr txBox="1"/>
          <p:nvPr/>
        </p:nvSpPr>
        <p:spPr>
          <a:xfrm>
            <a:off x="2078670" y="821179"/>
            <a:ext cx="123139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08/29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BAEB02-547F-9B6E-23DF-64343787F7E1}"/>
              </a:ext>
            </a:extLst>
          </p:cNvPr>
          <p:cNvSpPr txBox="1"/>
          <p:nvPr/>
        </p:nvSpPr>
        <p:spPr>
          <a:xfrm>
            <a:off x="3206083" y="3995603"/>
            <a:ext cx="964623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01/20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77540C-A1F2-4626-809B-4E2D1768D54C}"/>
              </a:ext>
            </a:extLst>
          </p:cNvPr>
          <p:cNvSpPr txBox="1"/>
          <p:nvPr/>
        </p:nvSpPr>
        <p:spPr>
          <a:xfrm>
            <a:off x="2735028" y="2532217"/>
            <a:ext cx="964623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01/21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504AAC-45D7-6CAA-90D5-395DC5B84145}"/>
              </a:ext>
            </a:extLst>
          </p:cNvPr>
          <p:cNvSpPr txBox="1"/>
          <p:nvPr/>
        </p:nvSpPr>
        <p:spPr>
          <a:xfrm>
            <a:off x="1674445" y="3342928"/>
            <a:ext cx="141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面反光</a:t>
            </a:r>
          </a:p>
        </p:txBody>
      </p:sp>
    </p:spTree>
    <p:extLst>
      <p:ext uri="{BB962C8B-B14F-4D97-AF65-F5344CB8AC3E}">
        <p14:creationId xmlns:p14="http://schemas.microsoft.com/office/powerpoint/2010/main" val="4606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15C7B-E0E8-9ED9-3316-299F2E48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271DDB-275E-35C1-70F7-221FCF875E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60"/>
          <a:stretch/>
        </p:blipFill>
        <p:spPr>
          <a:xfrm>
            <a:off x="159816" y="586280"/>
            <a:ext cx="9978736" cy="5715000"/>
          </a:xfrm>
          <a:prstGeom prst="rect">
            <a:avLst/>
          </a:prstGeom>
        </p:spPr>
      </p:pic>
      <p:sp>
        <p:nvSpPr>
          <p:cNvPr id="3" name="L 形 2">
            <a:extLst>
              <a:ext uri="{FF2B5EF4-FFF2-40B4-BE49-F238E27FC236}">
                <a16:creationId xmlns:a16="http://schemas.microsoft.com/office/drawing/2014/main" id="{0FEC60BE-C0BA-A91B-A582-C52BF4872380}"/>
              </a:ext>
            </a:extLst>
          </p:cNvPr>
          <p:cNvSpPr/>
          <p:nvPr/>
        </p:nvSpPr>
        <p:spPr>
          <a:xfrm>
            <a:off x="1094703" y="1081825"/>
            <a:ext cx="4758743" cy="4546242"/>
          </a:xfrm>
          <a:prstGeom prst="corner">
            <a:avLst>
              <a:gd name="adj1" fmla="val 39739"/>
              <a:gd name="adj2" fmla="val 60212"/>
            </a:avLst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L 形 27">
            <a:extLst>
              <a:ext uri="{FF2B5EF4-FFF2-40B4-BE49-F238E27FC236}">
                <a16:creationId xmlns:a16="http://schemas.microsoft.com/office/drawing/2014/main" id="{16A37247-8EA1-2536-0076-57E32AA0B92B}"/>
              </a:ext>
            </a:extLst>
          </p:cNvPr>
          <p:cNvSpPr/>
          <p:nvPr/>
        </p:nvSpPr>
        <p:spPr>
          <a:xfrm rot="10800000">
            <a:off x="4157727" y="933717"/>
            <a:ext cx="4758743" cy="3664041"/>
          </a:xfrm>
          <a:prstGeom prst="corner">
            <a:avLst>
              <a:gd name="adj1" fmla="val 77850"/>
              <a:gd name="adj2" fmla="val 60212"/>
            </a:avLst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D5F1B92-849E-94FF-CC89-41B00F698BEB}"/>
              </a:ext>
            </a:extLst>
          </p:cNvPr>
          <p:cNvGrpSpPr/>
          <p:nvPr/>
        </p:nvGrpSpPr>
        <p:grpSpPr>
          <a:xfrm>
            <a:off x="9040403" y="394855"/>
            <a:ext cx="3084056" cy="5871199"/>
            <a:chOff x="9050794" y="192232"/>
            <a:chExt cx="3084056" cy="5871199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C1F2874A-C7E9-DECE-FF1F-15A4BD0E3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2608" r="20458" b="5411"/>
            <a:stretch/>
          </p:blipFill>
          <p:spPr>
            <a:xfrm>
              <a:off x="9050794" y="3028952"/>
              <a:ext cx="3059810" cy="3034479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C50E888-7246-E0DD-D6EF-BD7CF37B60DD}"/>
                </a:ext>
              </a:extLst>
            </p:cNvPr>
            <p:cNvSpPr txBox="1"/>
            <p:nvPr/>
          </p:nvSpPr>
          <p:spPr>
            <a:xfrm>
              <a:off x="10007698" y="3310046"/>
              <a:ext cx="2061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-Z</a:t>
              </a:r>
              <a:r>
                <a:rPr lang="zh-CN" altLang="en-US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面反光</a:t>
              </a: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0E30F9AE-76AF-6F77-2DAE-510F7E880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394" t="10985" r="18226" b="6363"/>
            <a:stretch/>
          </p:blipFill>
          <p:spPr>
            <a:xfrm>
              <a:off x="9055321" y="192232"/>
              <a:ext cx="3079529" cy="2774374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BC49ECA-B2C8-EB24-00C5-A0402100545B}"/>
                </a:ext>
              </a:extLst>
            </p:cNvPr>
            <p:cNvSpPr txBox="1"/>
            <p:nvPr/>
          </p:nvSpPr>
          <p:spPr>
            <a:xfrm>
              <a:off x="10123729" y="308805"/>
              <a:ext cx="19868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-X</a:t>
              </a:r>
              <a:r>
                <a:rPr lang="zh-CN" altLang="en-US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面反光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C16E545B-4978-58AF-ABB9-BA9CD136D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67347" cy="7809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星等与姿态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6F11AD6-A767-76AA-4A30-404756BCB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5256" y="6345960"/>
            <a:ext cx="2743200" cy="365125"/>
          </a:xfrm>
        </p:spPr>
        <p:txBody>
          <a:bodyPr/>
          <a:lstStyle/>
          <a:p>
            <a:fld id="{8A8F9E24-FCFC-4789-9D0B-F1C87FEB11A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8FDAF22-A49F-4D76-1903-48DA555A9E56}"/>
              </a:ext>
            </a:extLst>
          </p:cNvPr>
          <p:cNvSpPr txBox="1"/>
          <p:nvPr/>
        </p:nvSpPr>
        <p:spPr>
          <a:xfrm>
            <a:off x="0" y="6334780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亮度与面积的趋势基本符合直觉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F5B6200-D718-D6EA-2675-3FAC502D764D}"/>
              </a:ext>
            </a:extLst>
          </p:cNvPr>
          <p:cNvSpPr/>
          <p:nvPr/>
        </p:nvSpPr>
        <p:spPr>
          <a:xfrm>
            <a:off x="7071014" y="1589809"/>
            <a:ext cx="966355" cy="1127414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8171B5-37F5-E981-B12C-C97334F27617}"/>
              </a:ext>
            </a:extLst>
          </p:cNvPr>
          <p:cNvSpPr txBox="1"/>
          <p:nvPr/>
        </p:nvSpPr>
        <p:spPr>
          <a:xfrm>
            <a:off x="6649080" y="906284"/>
            <a:ext cx="1966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日，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P13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，观测比理论暗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D7968AB1-9BC2-8F15-E295-7792307EC305}"/>
              </a:ext>
            </a:extLst>
          </p:cNvPr>
          <p:cNvSpPr/>
          <p:nvPr/>
        </p:nvSpPr>
        <p:spPr>
          <a:xfrm rot="17061682">
            <a:off x="5915502" y="1690559"/>
            <a:ext cx="706582" cy="3171602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BE1C16-B194-64C2-C92F-BBC8146E9C73}"/>
              </a:ext>
            </a:extLst>
          </p:cNvPr>
          <p:cNvSpPr txBox="1"/>
          <p:nvPr/>
        </p:nvSpPr>
        <p:spPr>
          <a:xfrm>
            <a:off x="6650183" y="171222"/>
            <a:ext cx="1865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时间尺度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F17B79-3E7F-53CD-848F-1BAE5EF940EC}"/>
              </a:ext>
            </a:extLst>
          </p:cNvPr>
          <p:cNvSpPr txBox="1"/>
          <p:nvPr/>
        </p:nvSpPr>
        <p:spPr>
          <a:xfrm>
            <a:off x="3822611" y="5965852"/>
            <a:ext cx="2007249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归一化反光面积</a:t>
            </a: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3F8327F7-CF0A-20FA-0491-EE7556228D75}"/>
              </a:ext>
            </a:extLst>
          </p:cNvPr>
          <p:cNvSpPr/>
          <p:nvPr/>
        </p:nvSpPr>
        <p:spPr>
          <a:xfrm rot="17646949">
            <a:off x="2612475" y="2661566"/>
            <a:ext cx="706582" cy="218275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5EBAF2-21B3-1D40-9D98-0596D2A433FF}"/>
              </a:ext>
            </a:extLst>
          </p:cNvPr>
          <p:cNvSpPr txBox="1"/>
          <p:nvPr/>
        </p:nvSpPr>
        <p:spPr>
          <a:xfrm>
            <a:off x="1777476" y="4051266"/>
            <a:ext cx="141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面反光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6958D2-8918-005B-73A6-8AC0B1DB43AC}"/>
              </a:ext>
            </a:extLst>
          </p:cNvPr>
          <p:cNvSpPr txBox="1"/>
          <p:nvPr/>
        </p:nvSpPr>
        <p:spPr>
          <a:xfrm>
            <a:off x="5561499" y="2665812"/>
            <a:ext cx="141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-Z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面反光</a:t>
            </a:r>
          </a:p>
        </p:txBody>
      </p:sp>
    </p:spTree>
    <p:extLst>
      <p:ext uri="{BB962C8B-B14F-4D97-AF65-F5344CB8AC3E}">
        <p14:creationId xmlns:p14="http://schemas.microsoft.com/office/powerpoint/2010/main" val="3225154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8099E-15CD-7C9C-73D1-EB3ABADD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A48F3F0-A724-AC68-878D-48A202DB1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96" y="4146789"/>
            <a:ext cx="5064042" cy="1609820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9C085C2-84C0-70D0-FB80-4FE8E15D6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83" y="1494305"/>
            <a:ext cx="5039592" cy="1618111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</p:pic>
      <p:pic>
        <p:nvPicPr>
          <p:cNvPr id="6" name="图片 5" descr="图表&#10;&#10;描述已自动生成">
            <a:extLst>
              <a:ext uri="{FF2B5EF4-FFF2-40B4-BE49-F238E27FC236}">
                <a16:creationId xmlns:a16="http://schemas.microsoft.com/office/drawing/2014/main" id="{8E8EEDC1-3BBC-E530-1D79-621F502B7A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815" y="1696494"/>
            <a:ext cx="7472185" cy="3598286"/>
          </a:xfrm>
          <a:prstGeom prst="rect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A7AB081-DC49-F551-89B6-6685937D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67347" cy="7809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光学定轨精度分析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45E11D9E-8B1C-3DD9-C79F-6BBEF8C9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F9E24-FCFC-4789-9D0B-F1C87FEB11A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8467259-A335-4C77-5B34-776BCB72C8AE}"/>
              </a:ext>
            </a:extLst>
          </p:cNvPr>
          <p:cNvSpPr txBox="1"/>
          <p:nvPr/>
        </p:nvSpPr>
        <p:spPr>
          <a:xfrm>
            <a:off x="0" y="5903893"/>
            <a:ext cx="12192000" cy="9541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采用双站间隔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天观测，定轨精度可达数十公里，</a:t>
            </a:r>
            <a:endParaRPr lang="en-US" altLang="zh-CN" sz="2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预报演化约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周后误差增加至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E9B0E23-AC8C-32C6-6D86-71B6614752BA}"/>
              </a:ext>
            </a:extLst>
          </p:cNvPr>
          <p:cNvCxnSpPr>
            <a:cxnSpLocks/>
          </p:cNvCxnSpPr>
          <p:nvPr/>
        </p:nvCxnSpPr>
        <p:spPr>
          <a:xfrm>
            <a:off x="5925242" y="4797138"/>
            <a:ext cx="351557" cy="3931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8F7B04DB-7D57-B5B8-C03C-2C9BE9D88368}"/>
              </a:ext>
            </a:extLst>
          </p:cNvPr>
          <p:cNvSpPr/>
          <p:nvPr/>
        </p:nvSpPr>
        <p:spPr>
          <a:xfrm>
            <a:off x="5400501" y="4313961"/>
            <a:ext cx="768927" cy="62345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52802B-59A4-E9CE-E800-9CDCB4571F89}"/>
              </a:ext>
            </a:extLst>
          </p:cNvPr>
          <p:cNvSpPr txBox="1"/>
          <p:nvPr/>
        </p:nvSpPr>
        <p:spPr>
          <a:xfrm>
            <a:off x="9130837" y="2416429"/>
            <a:ext cx="1782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公里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507BE40-3B4A-B5CF-1342-19BAFAA16229}"/>
              </a:ext>
            </a:extLst>
          </p:cNvPr>
          <p:cNvCxnSpPr/>
          <p:nvPr/>
        </p:nvCxnSpPr>
        <p:spPr>
          <a:xfrm>
            <a:off x="5826529" y="2261755"/>
            <a:ext cx="0" cy="275359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0D0A3A9-9C79-E4FE-8AE4-E88FE67065D1}"/>
              </a:ext>
            </a:extLst>
          </p:cNvPr>
          <p:cNvCxnSpPr>
            <a:cxnSpLocks/>
          </p:cNvCxnSpPr>
          <p:nvPr/>
        </p:nvCxnSpPr>
        <p:spPr>
          <a:xfrm>
            <a:off x="5850773" y="3636819"/>
            <a:ext cx="36160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7D6C49D-E258-B0F2-BA99-54A230468CF9}"/>
              </a:ext>
            </a:extLst>
          </p:cNvPr>
          <p:cNvCxnSpPr/>
          <p:nvPr/>
        </p:nvCxnSpPr>
        <p:spPr>
          <a:xfrm>
            <a:off x="9477201" y="2140528"/>
            <a:ext cx="0" cy="275359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BE3DADD-5817-77EB-3656-7472F1DF6653}"/>
              </a:ext>
            </a:extLst>
          </p:cNvPr>
          <p:cNvSpPr txBox="1"/>
          <p:nvPr/>
        </p:nvSpPr>
        <p:spPr>
          <a:xfrm>
            <a:off x="6876010" y="3247702"/>
            <a:ext cx="1782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14FDD8B-E44B-8542-3B94-96075F7EC56F}"/>
              </a:ext>
            </a:extLst>
          </p:cNvPr>
          <p:cNvSpPr txBox="1"/>
          <p:nvPr/>
        </p:nvSpPr>
        <p:spPr>
          <a:xfrm>
            <a:off x="157597" y="805838"/>
            <a:ext cx="4206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个台站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P13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：间隔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天观测，初始定轨误差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865261-CAEF-7804-42D9-A034F924A4D5}"/>
              </a:ext>
            </a:extLst>
          </p:cNvPr>
          <p:cNvSpPr txBox="1"/>
          <p:nvPr/>
        </p:nvSpPr>
        <p:spPr>
          <a:xfrm>
            <a:off x="197427" y="3422615"/>
            <a:ext cx="4416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个台站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P13/O46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：间隔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天观测，初始定轨误差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公里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F1D6B3D-1417-450B-32A9-295DE0A6DA33}"/>
              </a:ext>
            </a:extLst>
          </p:cNvPr>
          <p:cNvSpPr txBox="1"/>
          <p:nvPr/>
        </p:nvSpPr>
        <p:spPr>
          <a:xfrm>
            <a:off x="7069973" y="1212814"/>
            <a:ext cx="2433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个台站定轨演化结果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E0B440A-9390-92DA-2D17-834AFFC3C696}"/>
              </a:ext>
            </a:extLst>
          </p:cNvPr>
          <p:cNvSpPr txBox="1"/>
          <p:nvPr/>
        </p:nvSpPr>
        <p:spPr>
          <a:xfrm>
            <a:off x="5965074" y="4955275"/>
            <a:ext cx="1782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定轨时刻</a:t>
            </a:r>
          </a:p>
        </p:txBody>
      </p:sp>
    </p:spTree>
    <p:extLst>
      <p:ext uri="{BB962C8B-B14F-4D97-AF65-F5344CB8AC3E}">
        <p14:creationId xmlns:p14="http://schemas.microsoft.com/office/powerpoint/2010/main" val="204338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407</Words>
  <Application>Microsoft Office PowerPoint</Application>
  <PresentationFormat>宽屏</PresentationFormat>
  <Paragraphs>105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Office 主题​​</vt:lpstr>
      <vt:lpstr>光学观测时间安排</vt:lpstr>
      <vt:lpstr>光学指向标定</vt:lpstr>
      <vt:lpstr>光学观测结果</vt:lpstr>
      <vt:lpstr>光学观测结果</vt:lpstr>
      <vt:lpstr>光学观测时机</vt:lpstr>
      <vt:lpstr>星等与姿态</vt:lpstr>
      <vt:lpstr>星等与姿态</vt:lpstr>
      <vt:lpstr>光学定轨精度分析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 Zhang</dc:creator>
  <cp:lastModifiedBy>Hao Zhang</cp:lastModifiedBy>
  <cp:revision>85</cp:revision>
  <dcterms:created xsi:type="dcterms:W3CDTF">2024-10-20T04:34:25Z</dcterms:created>
  <dcterms:modified xsi:type="dcterms:W3CDTF">2025-02-11T06:12:41Z</dcterms:modified>
</cp:coreProperties>
</file>